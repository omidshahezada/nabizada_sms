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10"/>
  </p:notesMasterIdLst>
  <p:sldIdLst>
    <p:sldId id="256" r:id="rId3"/>
    <p:sldId id="259" r:id="rId4"/>
    <p:sldId id="260" r:id="rId5"/>
    <p:sldId id="304" r:id="rId6"/>
    <p:sldId id="305" r:id="rId7"/>
    <p:sldId id="306" r:id="rId8"/>
    <p:sldId id="303" r:id="rId9"/>
  </p:sldIdLst>
  <p:sldSz cx="9144000" cy="5143500" type="screen16x9"/>
  <p:notesSz cx="6858000" cy="9144000"/>
  <p:embeddedFontLst>
    <p:embeddedFont>
      <p:font typeface="B Nazanin" panose="00000400000000000000" pitchFamily="2" charset="-78"/>
      <p:regular r:id="rId11"/>
      <p:bold r:id="rId12"/>
    </p:embeddedFont>
    <p:embeddedFont>
      <p:font typeface="Barlow Semi Condensed" panose="00000506000000000000" pitchFamily="2" charset="0"/>
      <p:regular r:id="rId13"/>
      <p:bold r:id="rId14"/>
      <p:italic r:id="rId15"/>
      <p:boldItalic r:id="rId16"/>
    </p:embeddedFont>
    <p:embeddedFont>
      <p:font typeface="Barlow Semi Condensed Medium" panose="00000606000000000000" pitchFamily="2" charset="0"/>
      <p:regular r:id="rId17"/>
      <p:bold r:id="rId18"/>
      <p:italic r:id="rId19"/>
      <p:boldItalic r:id="rId20"/>
    </p:embeddedFont>
    <p:embeddedFont>
      <p:font typeface="Fjalla One" panose="02000506040000020004" pitchFamily="2" charset="0"/>
      <p:regular r:id="rId21"/>
    </p:embeddedFont>
    <p:embeddedFont>
      <p:font typeface="Proxima Nova" panose="020B0604020202020204" charset="0"/>
      <p:regular r:id="rId22"/>
      <p:bold r:id="rId23"/>
      <p:italic r:id="rId24"/>
      <p:boldItalic r:id="rId25"/>
    </p:embeddedFont>
    <p:embeddedFont>
      <p:font typeface="Proxima Nova Semibold" panose="020B0604020202020204" charset="0"/>
      <p:regular r:id="rId26"/>
      <p:bold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A1C646-1BD8-4AA4-ADD0-F1209FE1057C}">
  <a:tblStyle styleId="{77A1C646-1BD8-4AA4-ADD0-F1209FE105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>
          <a:extLst>
            <a:ext uri="{FF2B5EF4-FFF2-40B4-BE49-F238E27FC236}">
              <a16:creationId xmlns:a16="http://schemas.microsoft.com/office/drawing/2014/main" id="{9BD71627-0719-E9C7-736F-A90517806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>
            <a:extLst>
              <a:ext uri="{FF2B5EF4-FFF2-40B4-BE49-F238E27FC236}">
                <a16:creationId xmlns:a16="http://schemas.microsoft.com/office/drawing/2014/main" id="{F7C3D82A-8BAB-22F0-689E-F455D3793C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>
            <a:extLst>
              <a:ext uri="{FF2B5EF4-FFF2-40B4-BE49-F238E27FC236}">
                <a16:creationId xmlns:a16="http://schemas.microsoft.com/office/drawing/2014/main" id="{4CA744E2-D2BA-7B0A-EFA1-2AB7D5B259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675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>
          <a:extLst>
            <a:ext uri="{FF2B5EF4-FFF2-40B4-BE49-F238E27FC236}">
              <a16:creationId xmlns:a16="http://schemas.microsoft.com/office/drawing/2014/main" id="{C0012FAF-85C4-36A0-AE31-720904F1C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>
            <a:extLst>
              <a:ext uri="{FF2B5EF4-FFF2-40B4-BE49-F238E27FC236}">
                <a16:creationId xmlns:a16="http://schemas.microsoft.com/office/drawing/2014/main" id="{F12BAE54-5E35-AE2F-AE28-4AD1EC5CC2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>
            <a:extLst>
              <a:ext uri="{FF2B5EF4-FFF2-40B4-BE49-F238E27FC236}">
                <a16:creationId xmlns:a16="http://schemas.microsoft.com/office/drawing/2014/main" id="{9CA50ED9-8E40-F2C8-B4AB-C61C26386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173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6" name="Google Shape;15336;g86fa6133bc_4_20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7" name="Google Shape;15337;g86fa6133bc_4_20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73" r:id="rId6"/>
    <p:sldLayoutId id="2147483674" r:id="rId7"/>
    <p:sldLayoutId id="2147483675" r:id="rId8"/>
    <p:sldLayoutId id="214748367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684" name="Google Shape;1684;p3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077522" y="2707234"/>
            <a:ext cx="3880625" cy="7987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3200" b="1" dirty="0">
                <a:solidFill>
                  <a:schemeClr val="dk2"/>
                </a:solidFill>
                <a:cs typeface="B Nazanin" panose="00000400000000000000" pitchFamily="2" charset="-78"/>
              </a:rPr>
              <a:t>سیستم مدیریت فروشگاه</a:t>
            </a:r>
            <a:endParaRPr sz="3200" b="1" dirty="0">
              <a:solidFill>
                <a:schemeClr val="dk2"/>
              </a:solidFill>
              <a:cs typeface="B Nazanin" panose="00000400000000000000" pitchFamily="2" charset="-78"/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493983" y="3981803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 sz="1800" b="1" dirty="0">
                <a:cs typeface="B Nazanin" panose="00000400000000000000" pitchFamily="2" charset="-78"/>
              </a:rPr>
              <a:t>ارا</a:t>
            </a:r>
            <a:r>
              <a:rPr lang="prs-AF" sz="1800" b="1" dirty="0">
                <a:cs typeface="B Nazanin" panose="00000400000000000000" pitchFamily="2" charset="-78"/>
              </a:rPr>
              <a:t>ئه کننده: امید </a:t>
            </a:r>
            <a:r>
              <a:rPr lang="fa-IR" sz="1800" b="1" dirty="0">
                <a:cs typeface="B Nazanin" panose="00000400000000000000" pitchFamily="2" charset="-78"/>
              </a:rPr>
              <a:t>"شاهیزاده"</a:t>
            </a:r>
          </a:p>
          <a:p>
            <a:pPr marL="0" lvl="0" indent="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a-IR" sz="1800" b="1" dirty="0">
                <a:solidFill>
                  <a:schemeClr val="accent1"/>
                </a:solidFill>
                <a:cs typeface="B Nazanin" panose="00000400000000000000" pitchFamily="2" charset="-78"/>
              </a:rPr>
              <a:t>استاد </a:t>
            </a:r>
            <a:r>
              <a:rPr lang="fa-IR" sz="1800" b="1" dirty="0">
                <a:cs typeface="B Nazanin" panose="00000400000000000000" pitchFamily="2" charset="-78"/>
              </a:rPr>
              <a:t>رهنماء: کارشناس ارشد عبدالروحید "خالقیار"</a:t>
            </a:r>
            <a:endParaRPr sz="1800" b="1" dirty="0">
              <a:solidFill>
                <a:schemeClr val="accent1"/>
              </a:solidFill>
              <a:cs typeface="B Nazanin" panose="00000400000000000000" pitchFamily="2" charset="-78"/>
            </a:endParaRPr>
          </a:p>
        </p:txBody>
      </p:sp>
      <p:sp>
        <p:nvSpPr>
          <p:cNvPr id="2" name="Google Shape;1884;p35">
            <a:extLst>
              <a:ext uri="{FF2B5EF4-FFF2-40B4-BE49-F238E27FC236}">
                <a16:creationId xmlns:a16="http://schemas.microsoft.com/office/drawing/2014/main" id="{4A7E4328-DCBC-9074-3153-8E47DF2F6BE7}"/>
              </a:ext>
            </a:extLst>
          </p:cNvPr>
          <p:cNvSpPr txBox="1">
            <a:spLocks/>
          </p:cNvSpPr>
          <p:nvPr/>
        </p:nvSpPr>
        <p:spPr>
          <a:xfrm>
            <a:off x="5077522" y="854927"/>
            <a:ext cx="3880625" cy="137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5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5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5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5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5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5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5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5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5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 rtl="1"/>
            <a:r>
              <a:rPr lang="fa-IR" sz="2400" b="1" dirty="0">
                <a:cs typeface="B Nazanin" panose="00000400000000000000" pitchFamily="2" charset="-78"/>
              </a:rPr>
              <a:t>دانشگاه کابل </a:t>
            </a:r>
          </a:p>
          <a:p>
            <a:pPr algn="ctr" rtl="1"/>
            <a:r>
              <a:rPr lang="fa-IR" sz="2400" b="1" dirty="0">
                <a:cs typeface="B Nazanin" panose="00000400000000000000" pitchFamily="2" charset="-78"/>
              </a:rPr>
              <a:t>دانشکده علوم کمپیوتر</a:t>
            </a:r>
          </a:p>
          <a:p>
            <a:pPr algn="ctr" rtl="1"/>
            <a:r>
              <a:rPr lang="fa-IR" sz="2400" b="1" dirty="0">
                <a:cs typeface="B Nazanin" panose="00000400000000000000" pitchFamily="2" charset="-78"/>
              </a:rPr>
              <a:t>بخش مهندسی نرم افزار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700" b="1" dirty="0">
                <a:cs typeface="B Nazanin" panose="00000400000000000000" pitchFamily="2" charset="-78"/>
              </a:rPr>
              <a:t>معرفی</a:t>
            </a:r>
            <a:endParaRPr sz="4700" b="1" dirty="0">
              <a:cs typeface="B Nazanin" panose="00000400000000000000" pitchFamily="2" charset="-78"/>
            </a:endParaRP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2971800" y="3075511"/>
            <a:ext cx="3200400" cy="591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  <a:sym typeface="Barlow Semi Condensed"/>
              </a:rPr>
              <a:t>سیستم مدیریت فروشگاه</a:t>
            </a:r>
            <a:endParaRPr sz="2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167200" y="97220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b="1" dirty="0">
                <a:cs typeface="B Nazanin" panose="00000400000000000000" pitchFamily="2" charset="-78"/>
              </a:rPr>
              <a:t>سیستم مدیریت فروشگاه</a:t>
            </a:r>
            <a:endParaRPr b="1" dirty="0">
              <a:cs typeface="B Nazanin" panose="00000400000000000000" pitchFamily="2" charset="-78"/>
            </a:endParaRPr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353015" y="2235208"/>
            <a:ext cx="6586653" cy="11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b="1" dirty="0">
                <a:solidFill>
                  <a:schemeClr val="dk2"/>
                </a:solidFill>
                <a:cs typeface="B Nazanin" panose="00000400000000000000" pitchFamily="2" charset="-78"/>
                <a:sym typeface="Barlow Semi Condensed"/>
              </a:rPr>
              <a:t>این سیستم برای مدیریت فروشگاه طراحی میشود تا اکثر موارد مربوط به یک فروشگاه را مدیریت کند.</a:t>
            </a:r>
            <a:endParaRPr sz="2000" b="1" dirty="0">
              <a:cs typeface="B Nazanin" panose="00000400000000000000" pitchFamily="2" charset="-78"/>
              <a:sym typeface="Barlow Semi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>
          <a:extLst>
            <a:ext uri="{FF2B5EF4-FFF2-40B4-BE49-F238E27FC236}">
              <a16:creationId xmlns:a16="http://schemas.microsoft.com/office/drawing/2014/main" id="{147330F6-83D8-E1A3-3866-8B1A037F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>
            <a:extLst>
              <a:ext uri="{FF2B5EF4-FFF2-40B4-BE49-F238E27FC236}">
                <a16:creationId xmlns:a16="http://schemas.microsoft.com/office/drawing/2014/main" id="{919699F6-65FA-31BF-1C7B-15BA575C5F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7200" y="97220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b="1" dirty="0">
                <a:cs typeface="B Nazanin" panose="00000400000000000000" pitchFamily="2" charset="-78"/>
              </a:rPr>
              <a:t>قابلیت ها</a:t>
            </a:r>
            <a:endParaRPr b="1" dirty="0">
              <a:cs typeface="B Nazanin" panose="00000400000000000000" pitchFamily="2" charset="-78"/>
            </a:endParaRPr>
          </a:p>
        </p:txBody>
      </p:sp>
      <p:sp>
        <p:nvSpPr>
          <p:cNvPr id="2178" name="Google Shape;2178;p39">
            <a:extLst>
              <a:ext uri="{FF2B5EF4-FFF2-40B4-BE49-F238E27FC236}">
                <a16:creationId xmlns:a16="http://schemas.microsoft.com/office/drawing/2014/main" id="{3A2F1341-24F4-EF7D-EBF8-490805D793C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53015" y="2235208"/>
            <a:ext cx="6586653" cy="1704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b="1" dirty="0">
                <a:solidFill>
                  <a:schemeClr val="dk2"/>
                </a:solidFill>
                <a:cs typeface="B Nazanin" panose="00000400000000000000" pitchFamily="2" charset="-78"/>
                <a:sym typeface="Barlow Semi Condensed"/>
              </a:rPr>
              <a:t>1. مدیریت موجودی 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b="1" dirty="0">
                <a:cs typeface="B Nazanin" panose="00000400000000000000" pitchFamily="2" charset="-78"/>
                <a:sym typeface="Barlow Semi Condensed"/>
              </a:rPr>
              <a:t>2. مدیریت مصارف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b="1" dirty="0">
                <a:cs typeface="B Nazanin" panose="00000400000000000000" pitchFamily="2" charset="-78"/>
              </a:rPr>
              <a:t>3. چاپ بل 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b="1" dirty="0">
                <a:cs typeface="B Nazanin" panose="00000400000000000000" pitchFamily="2" charset="-78"/>
              </a:rPr>
              <a:t>4. ثبت فروشات 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b="1" dirty="0">
                <a:cs typeface="B Nazanin" panose="00000400000000000000" pitchFamily="2" charset="-78"/>
              </a:rPr>
              <a:t>و غیره ...</a:t>
            </a:r>
            <a:endParaRPr lang="fa-IR" sz="2000" b="1" dirty="0">
              <a:cs typeface="B Nazanin" panose="00000400000000000000" pitchFamily="2" charset="-78"/>
              <a:sym typeface="Barlow Semi Condensed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cs typeface="B Nazanin" panose="00000400000000000000" pitchFamily="2" charset="-78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57153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>
          <a:extLst>
            <a:ext uri="{FF2B5EF4-FFF2-40B4-BE49-F238E27FC236}">
              <a16:creationId xmlns:a16="http://schemas.microsoft.com/office/drawing/2014/main" id="{4DBCB4C7-88A1-C4EB-C037-2CCF27B4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>
            <a:extLst>
              <a:ext uri="{FF2B5EF4-FFF2-40B4-BE49-F238E27FC236}">
                <a16:creationId xmlns:a16="http://schemas.microsoft.com/office/drawing/2014/main" id="{68FF12B1-C4AE-4D6F-7303-BB612F3DF0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7200" y="97220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3200" b="1" dirty="0">
                <a:cs typeface="B Nazanin" panose="00000400000000000000" pitchFamily="2" charset="-78"/>
              </a:rPr>
              <a:t>فناوری های مورد استفاده</a:t>
            </a:r>
            <a:endParaRPr sz="3200" b="1" dirty="0">
              <a:cs typeface="B Nazanin" panose="00000400000000000000" pitchFamily="2" charset="-78"/>
            </a:endParaRPr>
          </a:p>
        </p:txBody>
      </p:sp>
      <p:sp>
        <p:nvSpPr>
          <p:cNvPr id="2178" name="Google Shape;2178;p39">
            <a:extLst>
              <a:ext uri="{FF2B5EF4-FFF2-40B4-BE49-F238E27FC236}">
                <a16:creationId xmlns:a16="http://schemas.microsoft.com/office/drawing/2014/main" id="{DEC98946-2F8A-9928-4F9C-95D72EBB3B1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53015" y="2235208"/>
            <a:ext cx="6586653" cy="126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b="1" dirty="0">
                <a:solidFill>
                  <a:schemeClr val="dk2"/>
                </a:solidFill>
                <a:cs typeface="B Nazanin" panose="00000400000000000000" pitchFamily="2" charset="-78"/>
                <a:sym typeface="Barlow Semi Condensed"/>
              </a:rPr>
              <a:t>1. فرنت اند (</a:t>
            </a:r>
            <a:r>
              <a:rPr lang="en-US" sz="2400" b="1" dirty="0">
                <a:solidFill>
                  <a:schemeClr val="dk2"/>
                </a:solidFill>
                <a:cs typeface="B Nazanin" panose="00000400000000000000" pitchFamily="2" charset="-78"/>
                <a:sym typeface="Barlow Semi Condensed"/>
              </a:rPr>
              <a:t>html, </a:t>
            </a:r>
            <a:r>
              <a:rPr lang="en-US" sz="2400" b="1" dirty="0" err="1">
                <a:solidFill>
                  <a:schemeClr val="dk2"/>
                </a:solidFill>
                <a:cs typeface="B Nazanin" panose="00000400000000000000" pitchFamily="2" charset="-78"/>
                <a:sym typeface="Barlow Semi Condensed"/>
              </a:rPr>
              <a:t>css</a:t>
            </a:r>
            <a:r>
              <a:rPr lang="en-US" sz="2400" b="1" dirty="0">
                <a:solidFill>
                  <a:schemeClr val="dk2"/>
                </a:solidFill>
                <a:cs typeface="B Nazanin" panose="00000400000000000000" pitchFamily="2" charset="-78"/>
                <a:sym typeface="Barlow Semi Condensed"/>
              </a:rPr>
              <a:t>, </a:t>
            </a:r>
            <a:r>
              <a:rPr lang="en-US" sz="2400" b="1" dirty="0" err="1">
                <a:solidFill>
                  <a:schemeClr val="dk2"/>
                </a:solidFill>
                <a:cs typeface="B Nazanin" panose="00000400000000000000" pitchFamily="2" charset="-78"/>
                <a:sym typeface="Barlow Semi Condensed"/>
              </a:rPr>
              <a:t>Js</a:t>
            </a:r>
            <a:r>
              <a:rPr lang="fa-IR" sz="2400" b="1" dirty="0">
                <a:solidFill>
                  <a:schemeClr val="dk2"/>
                </a:solidFill>
                <a:cs typeface="B Nazanin" panose="00000400000000000000" pitchFamily="2" charset="-78"/>
                <a:sym typeface="Barlow Semi Condensed"/>
              </a:rPr>
              <a:t>)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b="1" dirty="0">
                <a:cs typeface="B Nazanin" panose="00000400000000000000" pitchFamily="2" charset="-78"/>
                <a:sym typeface="Barlow Semi Condensed"/>
              </a:rPr>
              <a:t>2. بک اند (لاراول)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b="1" dirty="0">
                <a:cs typeface="B Nazanin" panose="00000400000000000000" pitchFamily="2" charset="-78"/>
              </a:rPr>
              <a:t>3. پایگاه داده (</a:t>
            </a:r>
            <a:r>
              <a:rPr lang="en-US" sz="2400" b="1" dirty="0" err="1">
                <a:cs typeface="B Nazanin" panose="00000400000000000000" pitchFamily="2" charset="-78"/>
              </a:rPr>
              <a:t>MySql</a:t>
            </a:r>
            <a:r>
              <a:rPr lang="fa-IR" sz="2400" b="1" dirty="0">
                <a:cs typeface="B Nazanin" panose="00000400000000000000" pitchFamily="2" charset="-78"/>
              </a:rPr>
              <a:t>)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cs typeface="B Nazanin" panose="00000400000000000000" pitchFamily="2" charset="-78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311570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E7248B-3D3F-1C26-9310-D98289571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08" y="0"/>
            <a:ext cx="85812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680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5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7498FE-EFBE-48D1-A207-8C871A2C5678}"/>
              </a:ext>
            </a:extLst>
          </p:cNvPr>
          <p:cNvSpPr txBox="1"/>
          <p:nvPr/>
        </p:nvSpPr>
        <p:spPr>
          <a:xfrm>
            <a:off x="3215527" y="1873405"/>
            <a:ext cx="26054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6000" b="1" dirty="0">
                <a:solidFill>
                  <a:schemeClr val="bg1"/>
                </a:solidFill>
                <a:cs typeface="B Nazanin" panose="00000400000000000000" pitchFamily="2" charset="-78"/>
              </a:rPr>
              <a:t>سپاس!</a:t>
            </a:r>
            <a:endParaRPr lang="en-US" sz="6000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107</Words>
  <Application>Microsoft Office PowerPoint</Application>
  <PresentationFormat>On-screen Show (16:9)</PresentationFormat>
  <Paragraphs>22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Barlow Semi Condensed</vt:lpstr>
      <vt:lpstr>Proxima Nova</vt:lpstr>
      <vt:lpstr>B Nazanin</vt:lpstr>
      <vt:lpstr>Barlow Semi Condensed Medium</vt:lpstr>
      <vt:lpstr>Proxima Nova Semibold</vt:lpstr>
      <vt:lpstr>Fjalla One</vt:lpstr>
      <vt:lpstr>Technology Consulting by Slidesgo</vt:lpstr>
      <vt:lpstr>Slidesgo Final Pages</vt:lpstr>
      <vt:lpstr>سیستم مدیریت فروشگاه</vt:lpstr>
      <vt:lpstr>معرفی</vt:lpstr>
      <vt:lpstr>سیستم مدیریت فروشگاه</vt:lpstr>
      <vt:lpstr>قابلیت ها</vt:lpstr>
      <vt:lpstr>فناوری های مورد استفاده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Omid Shahezada</dc:creator>
  <cp:lastModifiedBy>Omid Shahezada</cp:lastModifiedBy>
  <cp:revision>2</cp:revision>
  <dcterms:modified xsi:type="dcterms:W3CDTF">2026-05-02T03:59:29Z</dcterms:modified>
</cp:coreProperties>
</file>